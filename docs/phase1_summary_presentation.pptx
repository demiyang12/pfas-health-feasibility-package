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Unadjusted correlation (Spearman)</c:v>
                </c:pt>
              </c:strCache>
            </c:strRef>
          </c:tx>
          <c:spPr>
            <a:solidFill>
              <a:srgbClr val="0E3B4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Obesity</c:v>
                  </c:pt>
                  <c:pt idx="1">
                    <c:v>Diabetes</c:v>
                  </c:pt>
                  <c:pt idx="2">
                    <c:v>Hypertension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-0.245</c:v>
                </c:pt>
                <c:pt idx="1">
                  <c:v>-0.344</c:v>
                </c:pt>
                <c:pt idx="2">
                  <c:v>-0.465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adjusting for income, education, race/ethnicity, age &amp; density</c:v>
                </c:pt>
              </c:strCache>
            </c:strRef>
          </c:tx>
          <c:spPr>
            <a:solidFill>
              <a:srgbClr val="E3A85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Obesity</c:v>
                  </c:pt>
                  <c:pt idx="1">
                    <c:v>Diabetes</c:v>
                  </c:pt>
                  <c:pt idx="2">
                    <c:v>Hypertension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-0.02</c:v>
                </c:pt>
                <c:pt idx="1">
                  <c:v>-0.041</c:v>
                </c:pt>
                <c:pt idx="2">
                  <c:v>-0.066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623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3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"/>
          <c:min val="-0.55"/>
        </c:scaling>
        <c:delete val="0"/>
        <c:axPos val="b"/>
        <c:majorGridlines>
          <c:spPr>
            <a:ln w="12700" cap="flat">
              <a:solidFill>
                <a:srgbClr val="E4E9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2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6B72"/>
                    </a:solidFill>
                    <a:latin typeface="Calibri"/>
                  </a:rPr>
                  <a:t>Correlation with PFAS Hazard Index (r)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5B6B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92A3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HEALTH RESEARCH  ·  PHASE 1 FEASIBILITY REPORT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9692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PFAS Drinking-Water Exposure &amp;
</a:t>
            </a:r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BFD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Obesity-Related Health Outcomes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community-level feasibility study across Texas ZIP Code Tabulation Areas (ZCTAs)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245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UCMR 5  ·  CDC PLACES  ·  US Census ACS  —  public data, fully reproducible pipeline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Yuqing   ·   Phase 1 Review   · 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Environmental PFAS Exposure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Community Health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492240" cy="3246120"/>
          </a:xfrm>
          <a:prstGeom prst="roundRect">
            <a:avLst>
              <a:gd name="adj" fmla="val 253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606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154680"/>
            <a:ext cx="5852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i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are community-level PFAS exposures associated with obesity-related health outcomes — and how do these relationships vary across geography and socioeconomic context?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51389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 geography: Texas, with specific attention to Bexar County / San Antonio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2331720"/>
            <a:ext cx="4325112" cy="960120"/>
          </a:xfrm>
          <a:prstGeom prst="roundRect">
            <a:avLst>
              <a:gd name="adj" fmla="val 8571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571232" y="25328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261518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75320" y="24505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Obesity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275320" y="2834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prevalence, 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0" y="3502152"/>
            <a:ext cx="4325112" cy="960120"/>
          </a:xfrm>
          <a:prstGeom prst="roundRect">
            <a:avLst>
              <a:gd name="adj" fmla="val 8571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571232" y="37033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8" y="378561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36210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40050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diagnosed, adult prevalence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15200" y="4672584"/>
            <a:ext cx="4325112" cy="960120"/>
          </a:xfrm>
          <a:prstGeom prst="roundRect">
            <a:avLst>
              <a:gd name="adj" fmla="val 8571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571232" y="487375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495604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75320" y="47914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Hypertension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75320" y="51755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blood pressure prevalence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SCOPE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Feasibility Package — Not Yet a Causal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deliverables, assembled entirely from public data: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40864"/>
            <a:ext cx="566928" cy="566928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" y="2425903"/>
            <a:ext cx="396850" cy="3968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04672" y="301752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Data Inventory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3502152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public sources, all key-free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25112" y="208483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340864"/>
            <a:ext cx="566928" cy="566928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183" y="2425903"/>
            <a:ext cx="396850" cy="3968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1144" y="301752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Integrated Dataset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581144" y="3502152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1,989 TX ZCTAs linked end-to-end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01584" y="2084832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57616" y="2340864"/>
            <a:ext cx="566928" cy="566928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655" y="2425903"/>
            <a:ext cx="396850" cy="39685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57616" y="301752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Linkage Summary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357616" y="3502152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funnel documented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197096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453128"/>
            <a:ext cx="566928" cy="566928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711" y="4538167"/>
            <a:ext cx="396850" cy="39685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04672" y="5129784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 Preliminary Maps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804672" y="5614416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+ 3 outcomes + SES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25112" y="4197096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81144" y="4453128"/>
            <a:ext cx="566928" cy="566928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6183" y="4538167"/>
            <a:ext cx="396850" cy="39685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81144" y="5129784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 Exploratory Analysis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4581144" y="5614416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Moran's I, LISA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01584" y="4197096"/>
            <a:ext cx="3538728" cy="1874520"/>
          </a:xfrm>
          <a:prstGeom prst="roundRect">
            <a:avLst>
              <a:gd name="adj" fmla="val 4390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57616" y="4453128"/>
            <a:ext cx="566928" cy="566928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655" y="4538167"/>
            <a:ext cx="396850" cy="39685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57616" y="5129784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F. Methodological Memo</a:t>
            </a:r>
            <a:endParaRPr lang="en-US" sz="1450" dirty="0"/>
          </a:p>
        </p:txBody>
      </p:sp>
      <p:sp>
        <p:nvSpPr>
          <p:cNvPr id="34" name="Text 26"/>
          <p:cNvSpPr txBox="1"/>
          <p:nvPr/>
        </p:nvSpPr>
        <p:spPr>
          <a:xfrm>
            <a:off x="8357616" y="5614416"/>
            <a:ext cx="3026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recommended next steps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Public Sources, Zero API Keys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6336" y="233172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4704" y="2569464"/>
            <a:ext cx="603504" cy="603504"/>
          </a:xfrm>
          <a:prstGeom prst="ellipse">
            <a:avLst/>
          </a:prstGeom>
          <a:solidFill>
            <a:srgbClr val="B982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229" y="2659990"/>
            <a:ext cx="422453" cy="42245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47776" y="33192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EPA UCMR 5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66064" y="3922776"/>
            <a:ext cx="1700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in drinking water — 29 compounds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776576" y="31089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96032" y="233172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4400" y="256946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925" y="2659990"/>
            <a:ext cx="422453" cy="42245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87472" y="33192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EPA SDWIS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105760" y="3922776"/>
            <a:ext cx="1700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served, source type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916272" y="31089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135728" y="233172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94096" y="256946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621" y="2659990"/>
            <a:ext cx="422453" cy="42245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27168" y="33192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ZIP → ZCTA crosswalk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245456" y="3922776"/>
            <a:ext cx="1700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linkage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055968" y="31089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275424" y="233172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33792" y="256946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317" y="2659990"/>
            <a:ext cx="422453" cy="42245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66864" y="33192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 PLACES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7385152" y="3922776"/>
            <a:ext cx="1700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/ diabetes / hypertension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195664" y="3108960"/>
            <a:ext cx="219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9415120" y="2331720"/>
            <a:ext cx="1920240" cy="2331720"/>
          </a:xfrm>
          <a:prstGeom prst="roundRect">
            <a:avLst>
              <a:gd name="adj" fmla="val 428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073488" y="2569464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4013" y="2659990"/>
            <a:ext cx="422453" cy="42245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06560" y="331927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Census ACS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9524848" y="3922776"/>
            <a:ext cx="170078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socioeconomic &amp; demographic covariates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029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 — 14 R scripts, one command:  Rscript scripts/run_all.R  (~1 minute)</a:t>
            </a:r>
            <a:endParaRPr lang="en-US" sz="125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FEASIBILITY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Texas Provides a Workable Analytic Sample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9488" y="178308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75208" y="20391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020928" y="26974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public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systems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49728" y="2286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22E"/>
                </a:solidFill>
              </a:rPr>
              <a:t>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32608" y="178308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78328" y="20391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124048" y="26974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PFAS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952848" y="2286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22E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35728" y="178308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181448" y="20391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1,436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227168" y="26974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codes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55968" y="2286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22E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38848" y="178308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84568" y="20391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95.2%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330288" y="26974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ZCTA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59088" y="2286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822E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41968" y="1783080"/>
            <a:ext cx="1920240" cy="1691640"/>
          </a:xfrm>
          <a:prstGeom prst="roundRect">
            <a:avLst>
              <a:gd name="adj" fmla="val 4865"/>
            </a:avLst>
          </a:prstGeom>
          <a:solidFill>
            <a:srgbClr val="0E3B43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387688" y="203911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1,223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433408" y="26974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ZCTAs — primary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sample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14400" y="40690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95.7%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069080"/>
            <a:ext cx="8076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Texas' ZCTA population is covered by the primary analytic sample — ample for global and spatial statistical modelling.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the sample is limited to monitored ZCTAs (geographically gappy), and only 19 ZCTAs show a regulatory exceedance — limited exposure contrast within one state.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MAPS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PFAS Detected Across Texas?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56816"/>
            <a:ext cx="91440" cy="91440"/>
          </a:xfrm>
          <a:prstGeom prst="ellipse">
            <a:avLst/>
          </a:prstGeom>
          <a:solidFill>
            <a:srgbClr val="B982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80136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Hazard Index (2024), population-weighted across every water system serving a ZCTA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852928"/>
            <a:ext cx="91440" cy="91440"/>
          </a:xfrm>
          <a:prstGeom prst="ellipse">
            <a:avLst/>
          </a:prstGeom>
          <a:solidFill>
            <a:srgbClr val="B982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69748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in 622 of 1,154 Texas systems; only 19 exceed a regulatory threshold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91440" cy="91440"/>
          </a:xfrm>
          <a:prstGeom prst="ellipse">
            <a:avLst/>
          </a:prstGeom>
          <a:solidFill>
            <a:srgbClr val="B982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3593592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values cluster in DFW, Midland–Odessa, and the Houston–Austin–San Antonio corridor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45152"/>
            <a:ext cx="91440" cy="91440"/>
          </a:xfrm>
          <a:prstGeom prst="ellipse">
            <a:avLst/>
          </a:prstGeom>
          <a:solidFill>
            <a:srgbClr val="B982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4489704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rural Texas is unmonitored under UCMR 5 (shown in grey)</a:t>
            </a:r>
            <a:endParaRPr lang="en-US" sz="1300" dirty="0"/>
          </a:p>
        </p:txBody>
      </p:sp>
      <p:pic>
        <p:nvPicPr>
          <p:cNvPr id="12" name="Image 0" descr="/Users/demiyang/Downloads/alabama/PFAS-health-feasibility package/figures/map_1_pfas_hazard_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2162" y="1691640"/>
            <a:ext cx="4760595" cy="44805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126">
                <a:alpha val="16000"/>
              </a:srgbClr>
            </a:outerShdw>
          </a:effectLst>
        </p:spPr>
      </p:pic>
      <p:sp>
        <p:nvSpPr>
          <p:cNvPr id="13" name="Text 1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MAPS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Health Outcomes, Three Spatial Patterns</a:t>
            </a:r>
            <a:endParaRPr lang="en-US" sz="3000" dirty="0"/>
          </a:p>
        </p:txBody>
      </p:sp>
      <p:pic>
        <p:nvPicPr>
          <p:cNvPr id="4" name="Image 0" descr="/Users/demiyang/Downloads/alabama/PFAS-health-feasibility package/figures/map_2_obes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60" y="2163632"/>
            <a:ext cx="3611880" cy="339941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126">
                <a:alpha val="16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76860" y="527393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Obesity</a:t>
            </a:r>
            <a:endParaRPr lang="en-US" sz="1400" dirty="0"/>
          </a:p>
        </p:txBody>
      </p:sp>
      <p:pic>
        <p:nvPicPr>
          <p:cNvPr id="6" name="Image 1" descr="/Users/demiyang/Downloads/alabama/PFAS-health-feasibility package/figures/map_3_diabe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908" y="2163632"/>
            <a:ext cx="3611880" cy="339941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126">
                <a:alpha val="16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4289908" y="527393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</a:t>
            </a:r>
            <a:endParaRPr lang="en-US" sz="1400" dirty="0"/>
          </a:p>
        </p:txBody>
      </p:sp>
      <p:pic>
        <p:nvPicPr>
          <p:cNvPr id="8" name="Image 2" descr="/Users/demiyang/Downloads/alabama/PFAS-health-feasibility package/figures/map_4_hypertens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56" y="2163632"/>
            <a:ext cx="3611880" cy="339941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126">
                <a:alpha val="16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8102956" y="527393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Hypertension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126480"/>
            <a:ext cx="110944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PLACES 2025 release — model-based crude prevalence, ZCTA level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Exposure and Disease Hot-Spots</a:t>
            </a:r>
            <a:endParaRPr lang="en-US" sz="27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Rarely Coincide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0E3B43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377440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“High-High” hot-spot ZCTAs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46704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346704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3346704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an obesity hot-spot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15968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315968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4315968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 diabetes hot-spot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285232"/>
            <a:ext cx="5029200" cy="841248"/>
          </a:xfrm>
          <a:prstGeom prst="roundRect">
            <a:avLst>
              <a:gd name="adj" fmla="val 9783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5285232"/>
            <a:ext cx="10058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5285232"/>
            <a:ext cx="3474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 hypertension hot-spot</a:t>
            </a:r>
            <a:endParaRPr lang="en-US" sz="1300" dirty="0"/>
          </a:p>
        </p:txBody>
      </p:sp>
      <p:pic>
        <p:nvPicPr>
          <p:cNvPr id="16" name="Image 0" descr="/Users/demiyang/Downloads/alabama/PFAS-health-feasibility package/figures/map_6_pfas_vs_burden_bivari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6532" y="1783080"/>
            <a:ext cx="4783455" cy="42519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B2126">
                <a:alpha val="16000"/>
              </a:srgbClr>
            </a:outerShdw>
          </a:effectLst>
        </p:spPr>
      </p:pic>
      <p:sp>
        <p:nvSpPr>
          <p:cNvPr id="17" name="Text 14"/>
          <p:cNvSpPr txBox="1"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PFAS exposure and chronic-disease burden are strongly spatially clustered (Moran's I 0.5–0.8) — but in different places. No ZCTA is simultaneously a PFAS, disease, and SES-vulnerability hot-spot.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Is Strongest for Hypertension — Then Mostly Disappears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874520"/>
            <a:ext cx="3502152" cy="4160520"/>
          </a:xfrm>
          <a:prstGeom prst="roundRect">
            <a:avLst>
              <a:gd name="adj" fmla="val 2350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12480" y="2148840"/>
            <a:ext cx="297180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Unadjusted correlation is inverse (higher PFAS → lower prevalence) and increases in magnitude from obesity to hypertension — the pattern the advisor noticed.
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adjustment, all three associations collapse toward zero — explained mostly by urbanicity and socioeconomic status, not a protective effect of PFAS.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FEASIBILITY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Ready — and What's Still Fragile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546" y="2173986"/>
            <a:ext cx="544068" cy="5440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9293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Texas sample for spatial modelling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3317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E1F0E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6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(size)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233172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FBEED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GAPPY (support)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267919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1,223 ZCTAs / 95.7% of population — ample size, but limited to monitored ZCTAs; queen-contiguity fragments into ~28 sub-graphs.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611880"/>
            <a:ext cx="777240" cy="77724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46" y="3728466"/>
            <a:ext cx="544068" cy="5440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920240" y="34838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Propensity-score matching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920240" y="38862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FBEED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BUT FRAGILE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920240" y="423367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support ~81%; baseline imbalance large (max SMD 0.87); weighting leaves 0.47 — only 1:1 caliper matching fully balances covariates.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89204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5166360"/>
            <a:ext cx="777240" cy="77724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" y="5282946"/>
            <a:ext cx="544068" cy="54406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920240" y="50383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GWR / MGWR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920240" y="54406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FBEED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MGWR ONLY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3977640" y="54406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F7E4E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GLOBAL GWR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1920240" y="578815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GWR bandwidth (~14 neighbours) over-fits: local coefficients range from −176 to +251 — spatial-error models are the workhorse instead.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FEEDBACK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 From the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4415" cy="1965960"/>
          </a:xfrm>
          <a:prstGeom prst="roundRect">
            <a:avLst>
              <a:gd name="adj" fmla="val 4186"/>
            </a:avLst>
          </a:prstGeom>
          <a:solidFill>
            <a:srgbClr val="092A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167128"/>
            <a:ext cx="981425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Drinking water is only one source of exposure. Do we have PFAS information in air and soil that can be processed similarly — for a more accurate exposure estimate?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3337560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Next-Phase Direction 1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11094415" cy="1965960"/>
          </a:xfrm>
          <a:prstGeom prst="roundRect">
            <a:avLst>
              <a:gd name="adj" fmla="val 4186"/>
            </a:avLst>
          </a:prstGeom>
          <a:solidFill>
            <a:srgbClr val="092A3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4805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4407408"/>
            <a:ext cx="981425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understandable that PFAS shows weak correlation with obesity — too many contributing factors. The hypertension correlation is more interesting. Should we look at more direct health indicators or biomarkers?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5577840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Already visible in Phase 1 data (previous slide); motivates the planned individual-level biomarker study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NEXT-PHASE DIRECTION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Concentration to a PFAS Exposure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drinking-water concentration alone — integrate every available environmental medium into one community-level exposure measure.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0E3B43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2514600"/>
            <a:ext cx="548640" cy="548640"/>
          </a:xfrm>
          <a:prstGeom prst="ellipse">
            <a:avLst/>
          </a:prstGeom>
          <a:solidFill>
            <a:srgbClr val="B982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5968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3136392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59359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 — Phase 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22E"/>
                </a:solidFill>
              </a:rPr>
              <a:t>+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670048" y="233172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10128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25968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43200" y="3136392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Soil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359359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4498848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22E"/>
                </a:solidFill>
              </a:rPr>
              <a:t>+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791456" y="233172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31536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259689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64608" y="3136392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 / emissions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864608" y="359359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620256" y="28346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22E"/>
                </a:solidFill>
              </a:rPr>
              <a:t>+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912864" y="2331720"/>
            <a:ext cx="1828800" cy="1691640"/>
          </a:xfrm>
          <a:prstGeom prst="roundRect">
            <a:avLst>
              <a:gd name="adj" fmla="val 486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552944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59689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86016" y="3136392"/>
            <a:ext cx="168249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facilities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986016" y="3593592"/>
            <a:ext cx="16824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8741664" y="28346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9822E"/>
                </a:solidFill>
              </a:rPr>
              <a:t>→</a:t>
            </a:r>
            <a:endParaRPr lang="en-US" sz="1700" dirty="0"/>
          </a:p>
        </p:txBody>
      </p:sp>
      <p:sp>
        <p:nvSpPr>
          <p:cNvPr id="29" name="Shape 23"/>
          <p:cNvSpPr/>
          <p:nvPr/>
        </p:nvSpPr>
        <p:spPr>
          <a:xfrm>
            <a:off x="9125712" y="2583180"/>
            <a:ext cx="2517343" cy="1188720"/>
          </a:xfrm>
          <a:prstGeom prst="roundRect">
            <a:avLst>
              <a:gd name="adj" fmla="val 6923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9290304" y="2583180"/>
            <a:ext cx="218815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Community-level PFAS exposure index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48640" y="4434840"/>
            <a:ext cx="11094415" cy="1691640"/>
          </a:xfrm>
          <a:prstGeom prst="roundRect">
            <a:avLst>
              <a:gd name="adj" fmla="val 4865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22960" y="4690872"/>
            <a:ext cx="640080" cy="640080"/>
          </a:xfrm>
          <a:prstGeom prst="ellipse">
            <a:avLst/>
          </a:prstGeom>
          <a:solidFill>
            <a:srgbClr val="B9822E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786884"/>
            <a:ext cx="448056" cy="448056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69164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attribution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1691640" y="5029200"/>
            <a:ext cx="963137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mapping where exposure is high, examine what explains the pattern: industrial facilities, AFFF-related sites (airports, military bases, fire-training areas), wastewater / biosolids application, and other point sources.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B98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NEXT-PHASE DIRECTION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PFAS Exposure Matter More?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modification &amp; interaction effects — identify populations or places where the health implications of PFAS exposure are stronger or weaker.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408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" y="2425903"/>
            <a:ext cx="396850" cy="3968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267712"/>
            <a:ext cx="3291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Socioeconomic vulnerability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983480" y="2267712"/>
            <a:ext cx="63395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health association strengthen in lower-income or higher-poverty communities?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91256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33756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" y="3422599"/>
            <a:ext cx="396850" cy="39685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264408"/>
            <a:ext cx="3291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Age structure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3264408"/>
            <a:ext cx="63395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populations may show different sensitivity to chronic, low-level exposure.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87952"/>
            <a:ext cx="11094415" cy="868680"/>
          </a:xfrm>
          <a:prstGeom prst="roundRect">
            <a:avLst>
              <a:gd name="adj" fmla="val 9474"/>
            </a:avLst>
          </a:prstGeom>
          <a:solidFill>
            <a:srgbClr val="F2F5F6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3342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" y="4419295"/>
            <a:ext cx="396850" cy="39685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261104"/>
            <a:ext cx="3291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Urbanicity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983480" y="4261104"/>
            <a:ext cx="6339535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vs. rural water systems differ in source type, monitoring density, and confounding structure.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5248656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0E3B43"/>
          </a:solidFill>
          <a:ln/>
          <a:effectLst>
            <a:outerShdw sx="100000" sy="100000" kx="0" ky="0" algn="bl" rotWithShape="0" blurRad="88900" dist="25400" dir="5400000">
              <a:srgbClr val="0B2126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5404104"/>
            <a:ext cx="548640" cy="548640"/>
          </a:xfrm>
          <a:prstGeom prst="ellipse">
            <a:avLst/>
          </a:prstGeom>
          <a:solidFill>
            <a:srgbClr val="B982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54864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54480" y="5303520"/>
            <a:ext cx="9814255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the advisor's biomarker question: interaction effects can be tested more directly once individual-level blood pressure, cholesterol, and biomarker data (Phase 4) are available.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PATH FORWARD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Feasibility to a Community Exposure–Health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939900" y="2697480"/>
            <a:ext cx="8311896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528420" y="2286000"/>
            <a:ext cx="822960" cy="822960"/>
          </a:xfrm>
          <a:prstGeom prst="ellipse">
            <a:avLst/>
          </a:prstGeom>
          <a:solidFill>
            <a:srgbClr val="E3A85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444" y="247802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2600" y="329184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BFD9D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7192" y="342900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DONE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47192" y="37033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Feasibility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7192" y="4297680"/>
            <a:ext cx="21854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9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testbed — integrated pipeline, linkage, descriptives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9052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299052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453232" y="329184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092A3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17824" y="342900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617824" y="37033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Exposure System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17824" y="4297680"/>
            <a:ext cx="21854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+ soil + air/emissions + industrial facilities; source attribution; effect modification; expanded geography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69684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069684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223864" y="329184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092A3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88456" y="342900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388456" y="37033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Bayesian Modelling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388456" y="4297680"/>
            <a:ext cx="21854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confounding-sensitivity analysis; identification diagnostics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840316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840316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9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8994496" y="329184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092A3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159088" y="3429000"/>
            <a:ext cx="2185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59088" y="3703320"/>
            <a:ext cx="2185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Biomarker Study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159088" y="4297680"/>
            <a:ext cx="21854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PFAS/MNPs, BMI, A1c, blood pressure, diet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FEASIBILITY  ·  PHASE 1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931920"/>
            <a:ext cx="5943600" cy="5943600"/>
          </a:xfrm>
          <a:prstGeom prst="ellipse">
            <a:avLst/>
          </a:prstGeom>
          <a:solidFill>
            <a:srgbClr val="092A30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2011680"/>
            <a:ext cx="4206240" cy="4206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PFAS Drinking-Water Exposure &amp; Obesity-Related Health Outcomes  —  Phase 1 Feasibility Report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09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Yuqing  ·  demiyyq@gmail.com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2026-09-15T04:04:32Z</dcterms:created>
  <dcterms:modified xsi:type="dcterms:W3CDTF">2026-09-15T04:04:32Z</dcterms:modified>
</cp:coreProperties>
</file>